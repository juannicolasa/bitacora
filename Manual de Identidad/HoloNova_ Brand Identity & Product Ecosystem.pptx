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Rajdhani SemiBold"/>
      <p:regular r:id="rId11"/>
      <p:bold r:id="rId12"/>
    </p:embeddedFont>
    <p:embeddedFont>
      <p:font typeface="Outfit Light"/>
      <p:regular r:id="rId13"/>
      <p:bold r:id="rId14"/>
    </p:embeddedFont>
    <p:embeddedFont>
      <p:font typeface="Outfit"/>
      <p:regular r:id="rId15"/>
      <p:bold r:id="rId16"/>
    </p:embeddedFont>
    <p:embeddedFont>
      <p:font typeface="Rajdhani"/>
      <p:regular r:id="rId17"/>
      <p:bold r:id="rId18"/>
    </p:embeddedFon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bold.fntdata"/><Relationship Id="rId11" Type="http://schemas.openxmlformats.org/officeDocument/2006/relationships/font" Target="fonts/RajdhaniSemiBold-regular.fntdata"/><Relationship Id="rId22" Type="http://schemas.openxmlformats.org/officeDocument/2006/relationships/font" Target="fonts/JetBrainsMono-boldItalic.fntdata"/><Relationship Id="rId10" Type="http://schemas.openxmlformats.org/officeDocument/2006/relationships/slide" Target="slides/slide5.xml"/><Relationship Id="rId21" Type="http://schemas.openxmlformats.org/officeDocument/2006/relationships/font" Target="fonts/JetBrainsMono-italic.fntdata"/><Relationship Id="rId13" Type="http://schemas.openxmlformats.org/officeDocument/2006/relationships/font" Target="fonts/OutfitLight-regular.fntdata"/><Relationship Id="rId12" Type="http://schemas.openxmlformats.org/officeDocument/2006/relationships/font" Target="fonts/Rajdhani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utfit-regular.fntdata"/><Relationship Id="rId14" Type="http://schemas.openxmlformats.org/officeDocument/2006/relationships/font" Target="fonts/OutfitLight-bold.fntdata"/><Relationship Id="rId17" Type="http://schemas.openxmlformats.org/officeDocument/2006/relationships/font" Target="fonts/Rajdhani-regular.fntdata"/><Relationship Id="rId16" Type="http://schemas.openxmlformats.org/officeDocument/2006/relationships/font" Target="fonts/Outfi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regular.fntdata"/><Relationship Id="rId6" Type="http://schemas.openxmlformats.org/officeDocument/2006/relationships/slide" Target="slides/slide1.xml"/><Relationship Id="rId18" Type="http://schemas.openxmlformats.org/officeDocument/2006/relationships/font" Target="fonts/Rajdhani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hyperlink" Target="https://www.figma.com/make/Oksk8d9oQaHUJ3eWN6zFW5/Landing-page-dise%C3%B1o-premium?fullscreen=1&amp;t=AgCX7Jjm7Ttj2ysU-1&amp;code-node-id=0-6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11.png"/><Relationship Id="rId8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10" Type="http://schemas.openxmlformats.org/officeDocument/2006/relationships/image" Target="../media/image4.png"/><Relationship Id="rId9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10" Type="http://schemas.openxmlformats.org/officeDocument/2006/relationships/image" Target="../media/image4.png"/><Relationship Id="rId9" Type="http://schemas.openxmlformats.org/officeDocument/2006/relationships/image" Target="../media/image22.png"/><Relationship Id="rId5" Type="http://schemas.openxmlformats.org/officeDocument/2006/relationships/image" Target="../media/image1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0" y="1662112"/>
            <a:ext cx="1905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95387" y="2900362"/>
            <a:ext cx="9801225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El futuro de la </a:t>
            </a:r>
            <a:r>
              <a:rPr b="1" i="0" lang="en-US" sz="5250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interacción</a:t>
            </a:r>
            <a:r>
              <a:rPr b="1" i="0" lang="en-US" sz="525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b="1" i="0" lang="en-US" sz="5250" u="none" cap="none" strike="noStrike">
                <a:solidFill>
                  <a:srgbClr val="FF006E"/>
                </a:solidFill>
                <a:latin typeface="Rajdhani"/>
                <a:ea typeface="Rajdhani"/>
                <a:cs typeface="Rajdhani"/>
                <a:sym typeface="Rajdhani"/>
              </a:rPr>
              <a:t>musical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938587"/>
            <a:ext cx="7620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F0"/>
                </a:solidFill>
                <a:latin typeface="Outfit Light"/>
                <a:ea typeface="Outfit Light"/>
                <a:cs typeface="Outfit Light"/>
                <a:sym typeface="Outfit Light"/>
              </a:rPr>
              <a:t>Holo-Vinilos y audio inmersivo. Un nuevo paradigma donde la música se convierte en espacio, textura y tiempo.</a:t>
            </a:r>
            <a:endParaRPr b="0" i="0" sz="1500" u="none" cap="none" strike="noStrike">
              <a:solidFill>
                <a:srgbClr val="E8E8F0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8E8F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33400" y="4908175"/>
            <a:ext cx="11125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u="sng">
                <a:solidFill>
                  <a:schemeClr val="hlink"/>
                </a:solidFill>
                <a:latin typeface="JetBrains Mono"/>
                <a:ea typeface="JetBrains Mono"/>
                <a:cs typeface="JetBrains Mono"/>
                <a:sym typeface="JetBrains Mono"/>
                <a:hlinkClick r:id="rId5"/>
              </a:rPr>
              <a:t>https://www.figma.com/make/Oksk8d9oQaHUJ3eWN6zFW5/Landing-page-dise%C3%B1o-premium?fullscreen=1&amp;t=AgCX7Jjm7Ttj2ysU-1&amp;code-node-id=0-6</a:t>
            </a:r>
            <a:endParaRPr sz="1050">
              <a:solidFill>
                <a:srgbClr val="A855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855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A855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MANUAL DE IDENTIDAD · V 3.2</a:t>
            </a:r>
            <a:endParaRPr sz="1050">
              <a:solidFill>
                <a:srgbClr val="A855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A855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Juan Nicolás Álvarez</a:t>
            </a:r>
            <a:endParaRPr sz="1050">
              <a:solidFill>
                <a:srgbClr val="A855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A855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855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8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219200"/>
            <a:ext cx="1485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621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714500"/>
            <a:ext cx="5550693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No escuchas la música.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750" u="none" cap="none" strike="noStrike">
                <a:solidFill>
                  <a:srgbClr val="FF006E"/>
                </a:solidFill>
                <a:latin typeface="Rajdhani"/>
                <a:ea typeface="Rajdhani"/>
                <a:cs typeface="Rajdhani"/>
                <a:sym typeface="Rajdhani"/>
              </a:rPr>
              <a:t>La habitas.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1242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Nuestra misión es transformar la escucha pasiva en participación activa. Cada usuario es DJ, compositor y arquitecto del sonido en tiempo real.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621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52500" y="43243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Habitar:</a:t>
            </a: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 El oyente entra al espacio sonoro tridimensional.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48196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Editar:</a:t>
            </a: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 Aislamiento de instrumentos con precisión atómica.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56197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Crear:</a:t>
            </a: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 Agrega líneas de código o melodías a la matriz.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62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577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6578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381000"/>
            <a:ext cx="85725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8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8875"/>
            <a:ext cx="34290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28875"/>
            <a:ext cx="34290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428875"/>
            <a:ext cx="342900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66775" y="3343275"/>
            <a:ext cx="1800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F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HARDWARE · TOCADISCOS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66775" y="3609975"/>
            <a:ext cx="161020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HN-Deck Pro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66775" y="414337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Lectura láser magnética con mesa antivibración de cuarzo y sistema de enfoque en 3 ejes. Láser 405nm.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76775" y="3343275"/>
            <a:ext cx="16287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55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HARDWARE · GAFAS VR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76775" y="3609975"/>
            <a:ext cx="149018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HN-Vision X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76775" y="414337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Campo visual de 220° con pantallas micro-OLED 8K y latencia ultrabaja inferior a 2ms para sincronización perfecta.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86775" y="3343275"/>
            <a:ext cx="16287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00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SOFTWARE · MOTOR IA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86775" y="3609975"/>
            <a:ext cx="144018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HN-Sync AI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86775" y="414337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Motor de separación de fuentes Tier-5. Analiza el disco y aísla 128 instrumentos tridimensionales en tiempo real.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7717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7717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77177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295275" y="10477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Ecosistema inmersivo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381000"/>
            <a:ext cx="85725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8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43012"/>
            <a:ext cx="19145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1738312"/>
            <a:ext cx="55506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Holo-Vinilo </a:t>
            </a:r>
            <a:r>
              <a:rPr b="1" i="0" lang="en-US" sz="3750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HV-01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253841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El primer medio físico capaz de almacenar audio espacial de 360 grados. Grabado con precisión nanométrica sobre un polímero de alta densidad.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334541"/>
            <a:ext cx="5286375" cy="618892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52500" y="38814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Polímero HDO-7:</a:t>
            </a: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 Disco de 180g con acabado iridiscente y alta densidad óptica.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52500" y="46815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Grabado Óptico:</a:t>
            </a: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 Surcos a 0.3µm para codificar datos holográficos 3D.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52500" y="54816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Fidelidad 32-bit/768kHz:</a:t>
            </a: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 Profundidad 16 veces superior al estándar actual.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195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196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5197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250" y="381000"/>
            <a:ext cx="85725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8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5412"/>
            <a:ext cx="20859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1890712"/>
            <a:ext cx="55506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HoloStudio </a:t>
            </a:r>
            <a:r>
              <a:rPr b="1" i="0" lang="en-US" sz="3750" u="none" cap="none" strike="noStrike">
                <a:solidFill>
                  <a:srgbClr val="FF006E"/>
                </a:solidFill>
                <a:latin typeface="Rajdhani"/>
                <a:ea typeface="Rajdhani"/>
                <a:cs typeface="Rajdhani"/>
                <a:sym typeface="Rajdhani"/>
              </a:rPr>
              <a:t>4.0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26908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El entorno de realidad virtual donde la música se edita como espacio arquitectónico.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334536"/>
            <a:ext cx="5286375" cy="618892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952500" y="37290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Mezcla Táctil:</a:t>
            </a: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 Ajusta el ecualizador y el panorama 3D usando tus manos en el aire.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52500" y="45291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Visualización de Pistas:</a:t>
            </a: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 Identifica visualmente cada onda sonora (Bajo, Batería, Sintetizador).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52500" y="53292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Código Fuente:</a:t>
            </a:r>
            <a:r>
              <a:rPr b="0" i="0" lang="en-US" sz="1500" u="none" cap="none" strike="noStrike">
                <a:solidFill>
                  <a:srgbClr val="E8E8F0"/>
                </a:solidFill>
                <a:latin typeface="Outfit"/>
                <a:ea typeface="Outfit"/>
                <a:cs typeface="Outfit"/>
                <a:sym typeface="Outfit"/>
              </a:rPr>
              <a:t> Reorganiza los bloques del timeline en tiempo real.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7671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5672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3673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250" y="381000"/>
            <a:ext cx="85725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